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1" r:id="rId2"/>
    <p:sldId id="257" r:id="rId3"/>
    <p:sldId id="258" r:id="rId4"/>
    <p:sldId id="267" r:id="rId5"/>
    <p:sldId id="260" r:id="rId6"/>
    <p:sldId id="259" r:id="rId7"/>
    <p:sldId id="268" r:id="rId8"/>
    <p:sldId id="273" r:id="rId9"/>
    <p:sldId id="261" r:id="rId10"/>
    <p:sldId id="274" r:id="rId11"/>
    <p:sldId id="270" r:id="rId12"/>
    <p:sldId id="275" r:id="rId13"/>
    <p:sldId id="262" r:id="rId14"/>
    <p:sldId id="263" r:id="rId15"/>
    <p:sldId id="265" r:id="rId16"/>
    <p:sldId id="266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82" autoAdjust="0"/>
    <p:restoredTop sz="84575" autoAdjust="0"/>
  </p:normalViewPr>
  <p:slideViewPr>
    <p:cSldViewPr snapToGrid="0">
      <p:cViewPr>
        <p:scale>
          <a:sx n="75" d="100"/>
          <a:sy n="75" d="100"/>
        </p:scale>
        <p:origin x="341" y="187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5BE9D-8FB6-4726-B817-886EA399C88F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993CE-BC6F-4F54-AA99-5EDA96B691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05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993CE-BC6F-4F54-AA99-5EDA96B6913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21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993CE-BC6F-4F54-AA99-5EDA96B6913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76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993CE-BC6F-4F54-AA99-5EDA96B6913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460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993CE-BC6F-4F54-AA99-5EDA96B6913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910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993CE-BC6F-4F54-AA99-5EDA96B6913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24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DEA7E-C724-EA32-5268-65BE0A7ED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A55421-512D-6F14-0CAD-03128E355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2B137-968F-3ECF-69AE-03CB4AB6A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8299-F685-4A8C-94A3-6644042712C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7DB70-8834-38B0-F68F-188682D1C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74097-035D-5993-AB76-5D7E27F6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2632-D7DB-458B-97D3-8D07055DE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1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D828D-FD54-4813-8B66-C48E2DAD3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D933E-49AD-8086-B9ED-CF7886E5E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5C9EC-71A3-F43C-74C6-8850E3A7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8299-F685-4A8C-94A3-6644042712C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47119-D267-2A29-5D5F-05DF58E2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D26F3-3427-F48E-EB90-9F7650586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2632-D7DB-458B-97D3-8D07055DE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902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BF4AF-E036-82FA-8220-F032A1611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BAD1F-1C9D-7B88-73F1-3DFEF9CE3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224E8-19D5-C0E8-F70F-622BA4EC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8299-F685-4A8C-94A3-6644042712C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A76DC-516E-835D-5830-8F0AB1262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970E9-6800-D23F-5F2F-C1E368314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2632-D7DB-458B-97D3-8D07055DE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540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7656-5A0B-1637-AE23-B814DB965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D8650-6E3B-1585-E4F2-A32264E1A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6C32C-6ACB-2C05-621D-73E0B67A0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29841-B424-7F72-E254-BF2ED3F4C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8299-F685-4A8C-94A3-6644042712C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60621-13CE-7B0B-ABD9-1B7220554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BC17F-7EF8-2594-23F3-54E458EB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2632-D7DB-458B-97D3-8D07055DE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490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900E-5CBF-3002-585D-371B45AC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C20A9-DCFB-C510-0BF4-86F664460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3D1D4-64B1-B85B-2FA3-94CA8309C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B27587-A5AE-0382-84A8-63823093D2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2EB75E-1E58-A44B-6FC6-A630F80DD1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A8D055-29C9-2293-1573-6BCEA4688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8299-F685-4A8C-94A3-6644042712C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80C6E8-291B-D6ED-9C91-ED87E455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2F2651-DC2D-5640-0220-03B9DA5C2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2632-D7DB-458B-97D3-8D07055DE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232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FA7A-A99C-7BA1-C69B-C73D1B06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6630E9-FA2A-0512-8DC0-5E7794900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8299-F685-4A8C-94A3-6644042712C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DFE73-9E0F-F3CC-B6D5-5D9F821B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DFEE3-1B58-16A2-73DD-4162EF8D7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2632-D7DB-458B-97D3-8D07055DE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937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E9F82F-6976-9886-A11E-219219BE8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8299-F685-4A8C-94A3-6644042712C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35F53D-3981-B4A7-EBF5-5075AB8E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2BB92-4743-7143-8788-1981453D8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2632-D7DB-458B-97D3-8D07055DE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29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2899B-F557-AF3D-1E42-1E5BFE1A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270D0-3D1B-6FC7-8593-E835E826F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190EC-4E1D-0F17-1C94-7C79D4E18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9871D-21D8-70C5-35FC-8029704CD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8299-F685-4A8C-94A3-6644042712C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85E3C-6AA4-EFF2-3CFE-7AB9EBF31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6F392-342B-8C7F-211C-758424B5B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2632-D7DB-458B-97D3-8D07055DE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28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E2A3F-B23D-2114-54A4-4474CED19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D3CD5C-F66C-90D8-00E9-BADBD2A55D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7532B-6C71-0D91-B21F-2441F0A39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57684-9154-9BC4-6667-C9E3F2ED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8299-F685-4A8C-94A3-6644042712C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5EC59-D82A-6F17-42FE-5631A22A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50082-AD95-CA83-66E6-23B673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2632-D7DB-458B-97D3-8D07055DE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481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C3EB-E520-1CE3-95CC-188F6FA8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4F44A-0309-A928-E3B2-8CF318570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78CF7-EBD1-E7F3-B626-1A7BAA66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8299-F685-4A8C-94A3-6644042712C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A8A15-AC9E-1523-4D40-38A1D8B2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89E73-76A3-F35B-3E2A-83425807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2632-D7DB-458B-97D3-8D07055DE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809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674CE-BA97-132F-BE82-1A3362D2C3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14DC-7D72-15DD-E52E-348D744A8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070FA-E253-2FC1-A251-7F03D579D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8299-F685-4A8C-94A3-6644042712C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41CF2-7539-C502-E7F6-387A05D8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0A62F-A34F-7F0A-66CE-60AABFBD5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D2632-D7DB-458B-97D3-8D07055DE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639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CA6D24-3050-6F5B-E4A1-5AB19987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BAE95-2570-393E-FCEF-BB8E221BE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0C66F-308B-1B4B-FC81-A84426C0F2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28299-F685-4A8C-94A3-6644042712C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908B-CECF-3137-8AB6-01625B8C7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CAD4C-0FB7-44C8-3D0C-61BCFC41A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D2632-D7DB-458B-97D3-8D07055DE3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614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ED6897-A1F3-E751-80E3-800118649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038" y="0"/>
            <a:ext cx="6176389" cy="20077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3EBB0C-BCC8-F7AB-D31A-17508A067046}"/>
              </a:ext>
            </a:extLst>
          </p:cNvPr>
          <p:cNvSpPr txBox="1"/>
          <p:nvPr/>
        </p:nvSpPr>
        <p:spPr>
          <a:xfrm>
            <a:off x="2054942" y="2906475"/>
            <a:ext cx="8082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ICMP-Based Tools for Effective Network Diagnostics and Troubleshooting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EFA94C-1845-F481-159A-12AB39774BDB}"/>
              </a:ext>
            </a:extLst>
          </p:cNvPr>
          <p:cNvSpPr txBox="1"/>
          <p:nvPr/>
        </p:nvSpPr>
        <p:spPr>
          <a:xfrm>
            <a:off x="2054942" y="2064736"/>
            <a:ext cx="8377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CSA0764 – COMPUTER NETWORK FOR GAME SERVER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7F932-640D-78A5-9444-60588052B34F}"/>
              </a:ext>
            </a:extLst>
          </p:cNvPr>
          <p:cNvSpPr txBox="1"/>
          <p:nvPr/>
        </p:nvSpPr>
        <p:spPr>
          <a:xfrm>
            <a:off x="300248" y="5657671"/>
            <a:ext cx="49375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guideance of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Dr.Senthil K  &amp;  Dr.Rjaram P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A29BE1-42FC-2183-C816-A0307F969FB2}"/>
              </a:ext>
            </a:extLst>
          </p:cNvPr>
          <p:cNvSpPr txBox="1"/>
          <p:nvPr/>
        </p:nvSpPr>
        <p:spPr>
          <a:xfrm>
            <a:off x="7806813" y="5156557"/>
            <a:ext cx="46604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Lathika Chowdry S (192512286)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Shalini K (192512270)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Srenidhi M S (192511214)</a:t>
            </a:r>
          </a:p>
        </p:txBody>
      </p:sp>
      <p:pic>
        <p:nvPicPr>
          <p:cNvPr id="12" name="Picture 11" descr="A logo for a school of engineering&#10;&#10;AI-generated content may be incorrect.">
            <a:extLst>
              <a:ext uri="{FF2B5EF4-FFF2-40B4-BE49-F238E27FC236}">
                <a16:creationId xmlns:a16="http://schemas.microsoft.com/office/drawing/2014/main" id="{8FE037B5-F269-D9EC-A180-F406334C5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65" b="31362"/>
          <a:stretch>
            <a:fillRect/>
          </a:stretch>
        </p:blipFill>
        <p:spPr>
          <a:xfrm>
            <a:off x="127819" y="120721"/>
            <a:ext cx="5715000" cy="173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404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25851-2DF1-F07F-567F-59174307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CEB4-DDCA-164E-FCD8-C9916BA37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network diagnostics in modern communication systems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ICMP (Internet Control Message Protocol) in monitoring network health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as a core protocol used for error reporting and status checking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project focus: diagnostics + ICMP protocol implementation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serves as a fundamental tool for testing connectivity and identifying network performance issues in real time.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FE9EAE2-DC22-90C2-353D-C4AF11B4C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049" name="Picture 18">
            <a:extLst>
              <a:ext uri="{FF2B5EF4-FFF2-40B4-BE49-F238E27FC236}">
                <a16:creationId xmlns:a16="http://schemas.microsoft.com/office/drawing/2014/main" id="{6AC963BC-7F23-CA81-672F-E581FEEBC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68" y="304641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F1FA5B-7824-DA15-9CB2-A86A2BC1A8B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94022" y="151130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3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291B-7AFD-28B9-F76C-8AE684D1C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F71E-5799-8584-BB3E-13564611D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739" y="1922601"/>
            <a:ext cx="10515600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working principles of the ICMP protocol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ICMP-based diagnostics tools (Ping, Traceroute, etc.)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connectivity using ICMP messages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ICMP protocol functionalities programmatically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and accuracy of ICMP-based tools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3F49D6A-68C4-DC4F-38AF-3698AD610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073" name="Picture 18">
            <a:extLst>
              <a:ext uri="{FF2B5EF4-FFF2-40B4-BE49-F238E27FC236}">
                <a16:creationId xmlns:a16="http://schemas.microsoft.com/office/drawing/2014/main" id="{CDA0501C-ADBF-1B79-7A59-7A68CE45E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68" y="216038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2A6FE1-EDE8-76F8-1B0F-5FA99C73FE3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94022" y="151130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2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6FF0B-2EB7-8362-FAF1-1D4DD8D56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219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2EF157-13C9-CBFA-764C-6711E60561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3585752"/>
              </p:ext>
            </p:extLst>
          </p:nvPr>
        </p:nvGraphicFramePr>
        <p:xfrm>
          <a:off x="597520" y="1375261"/>
          <a:ext cx="10996960" cy="5202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240">
                  <a:extLst>
                    <a:ext uri="{9D8B030D-6E8A-4147-A177-3AD203B41FA5}">
                      <a16:colId xmlns:a16="http://schemas.microsoft.com/office/drawing/2014/main" val="1039238159"/>
                    </a:ext>
                  </a:extLst>
                </a:gridCol>
                <a:gridCol w="2749240">
                  <a:extLst>
                    <a:ext uri="{9D8B030D-6E8A-4147-A177-3AD203B41FA5}">
                      <a16:colId xmlns:a16="http://schemas.microsoft.com/office/drawing/2014/main" val="3931116407"/>
                    </a:ext>
                  </a:extLst>
                </a:gridCol>
                <a:gridCol w="2749240">
                  <a:extLst>
                    <a:ext uri="{9D8B030D-6E8A-4147-A177-3AD203B41FA5}">
                      <a16:colId xmlns:a16="http://schemas.microsoft.com/office/drawing/2014/main" val="4177987919"/>
                    </a:ext>
                  </a:extLst>
                </a:gridCol>
                <a:gridCol w="2749240">
                  <a:extLst>
                    <a:ext uri="{9D8B030D-6E8A-4147-A177-3AD203B41FA5}">
                      <a16:colId xmlns:a16="http://schemas.microsoft.com/office/drawing/2014/main" val="3987897227"/>
                    </a:ext>
                  </a:extLst>
                </a:gridCol>
              </a:tblGrid>
              <a:tr h="901539">
                <a:tc>
                  <a:txBody>
                    <a:bodyPr/>
                    <a:lstStyle/>
                    <a:p>
                      <a:pPr algn="just"/>
                      <a:endParaRPr lang="en-US" dirty="0"/>
                    </a:p>
                    <a:p>
                      <a:pPr algn="ctr"/>
                      <a:r>
                        <a:rPr lang="en-US" dirty="0"/>
                        <a:t>Author and 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US" dirty="0"/>
                        <a:t>Methodology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US" dirty="0"/>
                        <a:t>Key Findings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US" dirty="0"/>
                        <a:t>Title of the paper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527853"/>
                  </a:ext>
                </a:extLst>
              </a:tr>
              <a:tr h="1362185">
                <a:tc>
                  <a:txBody>
                    <a:bodyPr/>
                    <a:lstStyle/>
                    <a:p>
                      <a:r>
                        <a:rPr lang="en-IN" dirty="0"/>
                        <a:t>Cisco Systems, 2022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 documentation and analysis of ICMP Echo, Echo Reply, Time Exceeded messages used in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ping</a:t>
                      </a:r>
                      <a:r>
                        <a:rPr lang="en-US" dirty="0"/>
                        <a:t> and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traceroute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ICMP helps detect reachability, latency, packet loss, and hop-by-hop routing </a:t>
                      </a:r>
                      <a:r>
                        <a:rPr lang="en-US" dirty="0" err="1"/>
                        <a:t>behaviour</a:t>
                      </a:r>
                      <a:r>
                        <a:rPr lang="en-US" dirty="0"/>
                        <a:t>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Understanding the Ping and Traceroute Commands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23520"/>
                  </a:ext>
                </a:extLst>
              </a:tr>
              <a:tr h="1362185">
                <a:tc>
                  <a:txBody>
                    <a:bodyPr/>
                    <a:lstStyle/>
                    <a:p>
                      <a:r>
                        <a:rPr lang="en-IN" dirty="0" err="1"/>
                        <a:t>FreeCodeCamp</a:t>
                      </a:r>
                      <a:r>
                        <a:rPr lang="en-IN" dirty="0"/>
                        <a:t>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Step-by-step demonstration of ICMP diagnostic tools (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ping</a:t>
                      </a:r>
                      <a:r>
                        <a:rPr lang="en-US" dirty="0"/>
                        <a:t>,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traceroute</a:t>
                      </a:r>
                      <a:r>
                        <a:rPr lang="en-US" dirty="0"/>
                        <a:t>) with practical examples.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ICMP is the simplest and fastest way to test reachability and latency.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to Use Ping and Traceroute (Beginner's Guide)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370312"/>
                  </a:ext>
                </a:extLst>
              </a:tr>
              <a:tr h="1362185">
                <a:tc>
                  <a:txBody>
                    <a:bodyPr/>
                    <a:lstStyle/>
                    <a:p>
                      <a:r>
                        <a:rPr lang="en-US" dirty="0"/>
                        <a:t>Network Forensics Group (IJAET), 2018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Forensic analysis of ICMP error packets and </a:t>
                      </a:r>
                      <a:r>
                        <a:rPr lang="en-US" dirty="0" err="1"/>
                        <a:t>behaviour</a:t>
                      </a:r>
                      <a:r>
                        <a:rPr lang="en-US" dirty="0"/>
                        <a:t> under network faults.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ICMP error types provide strong indicators of routing failures, MTU issues, and unreachable hosts.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Network Forensics Using ICMP Protocol”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783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96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5B5E-0B2F-3F6F-3052-5520E4818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9BEFB27-3611-4BEB-D298-7990545B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165" y="1825625"/>
            <a:ext cx="7113104" cy="4351338"/>
          </a:xfrm>
        </p:spPr>
        <p:txBody>
          <a:bodyPr>
            <a:normAutofit fontScale="925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architecture of ICMP communication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 Host → ICMP Echo Request → Destination → Echo Reply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Diagnostics Layer (Ping, Traceroute logic)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Protocol Layer (Building &amp; sending   raw ICMP packets)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capture using packet sniffing tools (e.g., Wireshark)Error handling and response interpretation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2A23768-EAC3-69D8-D7FC-DA23CCFEA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121" name="Picture 18">
            <a:extLst>
              <a:ext uri="{FF2B5EF4-FFF2-40B4-BE49-F238E27FC236}">
                <a16:creationId xmlns:a16="http://schemas.microsoft.com/office/drawing/2014/main" id="{15DCFF53-FDC2-FF40-EB01-18A94B420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68" y="152082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BFCAC4-0D7C-D4E1-237B-908D8A2B10C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94022" y="151130"/>
            <a:ext cx="1519555" cy="13423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BFABDF-D325-CF07-8486-1A4C5778DA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461" y="1493520"/>
            <a:ext cx="4570214" cy="536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5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BD10E-78AC-46EF-DB43-FD338AB08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7CBFA-4E6F-0C94-52AB-E96B5B8E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and analysis of ICMP message structure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two modules: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Diagnostics Implementation Module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Protocol Implementation Module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Wireshark, Linux command-line utilities, programming language APIs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on different network environments (LAN/WAN)Recording results and evaluating performance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6EA18D9-2F72-F3F4-07ED-BB71E4F0B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097" name="Picture 18">
            <a:extLst>
              <a:ext uri="{FF2B5EF4-FFF2-40B4-BE49-F238E27FC236}">
                <a16:creationId xmlns:a16="http://schemas.microsoft.com/office/drawing/2014/main" id="{9D08DAAE-CE79-891B-AC2C-402B54009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68" y="152082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69C742-1E27-0DE4-6CED-DC506BA98AD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94022" y="151130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534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D6CB1-C13D-07BF-27FC-98EDB64C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289" y="416400"/>
            <a:ext cx="8754979" cy="1325563"/>
          </a:xfrm>
        </p:spPr>
        <p:txBody>
          <a:bodyPr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Diagnostics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Module-1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04972-E475-821A-3A8F-55C61E055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662" y="2141537"/>
            <a:ext cx="10186738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Ping functionality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RTT (Round Trip Time) calculation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loss monitoring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Hop-by-hop route tracing logic (Traceroute)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TTL manipulation to identify network paths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and visualization of diagnostic results</a:t>
            </a:r>
          </a:p>
        </p:txBody>
      </p:sp>
      <p:pic>
        <p:nvPicPr>
          <p:cNvPr id="6" name="Picture 18">
            <a:extLst>
              <a:ext uri="{FF2B5EF4-FFF2-40B4-BE49-F238E27FC236}">
                <a16:creationId xmlns:a16="http://schemas.microsoft.com/office/drawing/2014/main" id="{61D904B6-2435-6A1A-338D-E4496FEC7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83" y="16827"/>
            <a:ext cx="112163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23FBCA-D614-5604-F930-9641FC9A3F6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672445" y="0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10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>
            <a:extLst>
              <a:ext uri="{FF2B5EF4-FFF2-40B4-BE49-F238E27FC236}">
                <a16:creationId xmlns:a16="http://schemas.microsoft.com/office/drawing/2014/main" id="{2330133A-4806-549D-692B-7B31A107E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83" y="16827"/>
            <a:ext cx="112163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CEE6EC-52D9-A7C7-53AB-BC9204D1FBF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672445" y="0"/>
            <a:ext cx="1519555" cy="1342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C36A67-35BA-C269-9A13-43D4ED13E9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40" y="0"/>
            <a:ext cx="91586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19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1C73-F219-CE51-DCDD-C670855D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026" y="339601"/>
            <a:ext cx="8570843" cy="1728718"/>
          </a:xfrm>
        </p:spPr>
        <p:txBody>
          <a:bodyPr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Protocol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- 2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BAAA0-C976-66A2-4F6B-2B30DB9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208" y="2255838"/>
            <a:ext cx="10823713" cy="422624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ICMP packets using raw sockets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ICMP headers (Type, Code, Checksum)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Echo Request &amp; parsing Echo Reply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checksum calculation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timeouts and errors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between protocol and diagnostics modules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8926F0C-8AEF-FC3A-2E5E-9FDC5E5AF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6145" name="Picture 18">
            <a:extLst>
              <a:ext uri="{FF2B5EF4-FFF2-40B4-BE49-F238E27FC236}">
                <a16:creationId xmlns:a16="http://schemas.microsoft.com/office/drawing/2014/main" id="{03C162F5-BA68-43A8-1C12-BA4C31D49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63" y="126082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1F43BE-6FE0-B0D0-3090-509C2E2803C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594022" y="151130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451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>
            <a:extLst>
              <a:ext uri="{FF2B5EF4-FFF2-40B4-BE49-F238E27FC236}">
                <a16:creationId xmlns:a16="http://schemas.microsoft.com/office/drawing/2014/main" id="{3D08C45D-1F6D-0DB1-A89A-D14524147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63" y="126082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97BCAB-C3AA-8F50-99A3-221F8CE7C2E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94022" y="151130"/>
            <a:ext cx="1519555" cy="1342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4B516B-8225-307B-4D6A-342C43F31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67" b="38222"/>
          <a:stretch>
            <a:fillRect/>
          </a:stretch>
        </p:blipFill>
        <p:spPr>
          <a:xfrm>
            <a:off x="1605280" y="406400"/>
            <a:ext cx="8412480" cy="54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4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>
            <a:extLst>
              <a:ext uri="{FF2B5EF4-FFF2-40B4-BE49-F238E27FC236}">
                <a16:creationId xmlns:a16="http://schemas.microsoft.com/office/drawing/2014/main" id="{213FBC95-7A5B-59B6-049F-EE88E7719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63" y="126082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3E8783-2EB5-FDD4-011C-AAA730B8D4E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594022" y="151130"/>
            <a:ext cx="1519555" cy="13423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D8A367-7F3A-9834-CF31-1AE96CC1521B}"/>
              </a:ext>
            </a:extLst>
          </p:cNvPr>
          <p:cNvSpPr txBox="1"/>
          <p:nvPr/>
        </p:nvSpPr>
        <p:spPr>
          <a:xfrm>
            <a:off x="1302026" y="478456"/>
            <a:ext cx="87782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for Network Fault Isolation</a:t>
            </a:r>
          </a:p>
          <a:p>
            <a:pPr algn="ctr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- 3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92958D-3B8A-43A1-8375-60BA10554255}"/>
              </a:ext>
            </a:extLst>
          </p:cNvPr>
          <p:cNvSpPr txBox="1"/>
          <p:nvPr/>
        </p:nvSpPr>
        <p:spPr>
          <a:xfrm>
            <a:off x="777240" y="2132227"/>
            <a:ext cx="1123188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ICMP messages to identify and locate network faults.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error types and codes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(Destination Unreachable, Time Exceeded, Redirect).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hop-by-hop route analysis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Traceroute.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faulty or slow network nodes by observing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RTT variations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packet drops and unreachable hosts through ICMP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Differentiates between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failure, router failure, and congestion issues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Correlates packet loss with specific network hops.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0279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>
            <a:extLst>
              <a:ext uri="{FF2B5EF4-FFF2-40B4-BE49-F238E27FC236}">
                <a16:creationId xmlns:a16="http://schemas.microsoft.com/office/drawing/2014/main" id="{46B55FFD-06B0-D97E-CC93-38F35FE64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63" y="126082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52CA75-A7C9-F95E-7213-0D625DFD881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594022" y="151130"/>
            <a:ext cx="1519555" cy="1342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5236F4-D667-1171-DC44-FA359B4CB1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44" b="5778"/>
          <a:stretch>
            <a:fillRect/>
          </a:stretch>
        </p:blipFill>
        <p:spPr>
          <a:xfrm>
            <a:off x="1876732" y="523240"/>
            <a:ext cx="8142584" cy="554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13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21402-6355-5585-32B2-EBE751C6D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166B2-237D-B7ED-7F91-978769A2D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from Ping and Traceroute tests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custom ICMP packet implementation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RTT, packet loss, hop discovery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default system tools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of packet captures from Wireshark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BBA8DE1-39BB-ABA5-43C1-EB6D9CE8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169" name="Picture 18">
            <a:extLst>
              <a:ext uri="{FF2B5EF4-FFF2-40B4-BE49-F238E27FC236}">
                <a16:creationId xmlns:a16="http://schemas.microsoft.com/office/drawing/2014/main" id="{2FF49289-C82F-CB97-267E-BFA9C7ADF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68" y="284473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DA07D-B108-D054-4842-20A284DFD14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94022" y="151130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73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BAC7-29B4-E977-8DB3-38DA4FE2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523F6-6337-F1F7-B44A-BB6A0D6B6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socket access restrictions on some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traffic blocking by firewalls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latency variations affecting results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tracing routes over secured networks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not suitable for large data communication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router configurations for hop detection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C79EFF-5B8B-C24A-A066-E8964B579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193" name="Picture 18">
            <a:extLst>
              <a:ext uri="{FF2B5EF4-FFF2-40B4-BE49-F238E27FC236}">
                <a16:creationId xmlns:a16="http://schemas.microsoft.com/office/drawing/2014/main" id="{AE462F2E-A93E-5F7E-0973-39248EE8C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68" y="151606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CCA00A-A968-9F78-ED2A-C027FB75909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94022" y="228600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07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F1F6-5316-1EE3-4E69-F86093192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C3CB9-0BCA-80B2-413B-4AB4BF008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ICMP remains a vital protocol for network diagnostics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modules successfully demonstrate ICMP operations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tools help identify connectivity issues effectively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contributes to understanding network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ICMP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reliability of ICMP as a lightweight diagnostic protocol across different network conditions.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work enhances foundational networking knowledge and prepares for advanced protocol analysis in future studies.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19CB6DA-4CC0-D89A-3293-9502669CA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241" name="Picture 18">
            <a:extLst>
              <a:ext uri="{FF2B5EF4-FFF2-40B4-BE49-F238E27FC236}">
                <a16:creationId xmlns:a16="http://schemas.microsoft.com/office/drawing/2014/main" id="{A080175A-240E-02E6-E3F8-27F856FE3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03" y="265099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D8D755-24A6-A8DF-654E-D2A8A79F6E9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594022" y="151130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928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AFD86-6B9A-BDA0-C7AB-131992C6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F11C9-7214-FD61-BC19-F5207C223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3486" y="182721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Bonica et al., “ICMP: Standards &amp; Operational Experience,” IETF Draft, 2024.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Feng et al., “Off-Path Attacks on TCP/IP,”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Sharma et al., “DDoS Detection in UAVs,”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Radhakrishnan, “ICMP Flood Detection in IoT,” IJHRMOB Journal, 2023.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Sapkota et al., “Attack Detection in SDN (ICMP Floods),” MDPI, 2025.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Almadhor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“DDoS Detection in IoT Networks,” Scientific Reports, 2024.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A862741-9450-2839-D8F8-E0DF9258D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1265" name="Picture 18">
            <a:extLst>
              <a:ext uri="{FF2B5EF4-FFF2-40B4-BE49-F238E27FC236}">
                <a16:creationId xmlns:a16="http://schemas.microsoft.com/office/drawing/2014/main" id="{6C0C6258-BF48-A2FC-64D5-8291FB7C2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3" y="151606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5403D2-48BF-7832-E527-9ADD9EB0EF4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599102" y="8254"/>
            <a:ext cx="1519555" cy="134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11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>
            <a:extLst>
              <a:ext uri="{FF2B5EF4-FFF2-40B4-BE49-F238E27FC236}">
                <a16:creationId xmlns:a16="http://schemas.microsoft.com/office/drawing/2014/main" id="{F19D2FC3-CB93-B0FD-5D0D-ABDC406FB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3" y="151606"/>
            <a:ext cx="1135063" cy="13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6DD1CA-48E6-35FE-0CF7-9A696D41C28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599102" y="8254"/>
            <a:ext cx="1519555" cy="13423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6531B8-7D6F-B880-F6FB-D00D9F693AC7}"/>
              </a:ext>
            </a:extLst>
          </p:cNvPr>
          <p:cNvSpPr txBox="1"/>
          <p:nvPr/>
        </p:nvSpPr>
        <p:spPr>
          <a:xfrm>
            <a:off x="3495040" y="2382857"/>
            <a:ext cx="7183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346731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812</Words>
  <Application>Microsoft Office PowerPoint</Application>
  <PresentationFormat>Widescreen</PresentationFormat>
  <Paragraphs>110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Introduction</vt:lpstr>
      <vt:lpstr>Objectives</vt:lpstr>
      <vt:lpstr>Literature Review</vt:lpstr>
      <vt:lpstr> Architecture Diagram</vt:lpstr>
      <vt:lpstr>Methodology</vt:lpstr>
      <vt:lpstr>ICMP Diagnostics Implementation Module-1</vt:lpstr>
      <vt:lpstr>PowerPoint Presentation</vt:lpstr>
      <vt:lpstr>ICMP Protocol Implementation Module - 2</vt:lpstr>
      <vt:lpstr>PowerPoint Presentation</vt:lpstr>
      <vt:lpstr>PowerPoint Presentation</vt:lpstr>
      <vt:lpstr>PowerPoint Presentation</vt:lpstr>
      <vt:lpstr>Results and Discussion</vt:lpstr>
      <vt:lpstr>Challenges and Limitations</vt:lpstr>
      <vt:lpstr>Conclusion</vt:lpstr>
      <vt:lpstr>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brindhasarathy1521@gmail.com</dc:creator>
  <cp:lastModifiedBy>srenidhi mani</cp:lastModifiedBy>
  <cp:revision>6</cp:revision>
  <dcterms:created xsi:type="dcterms:W3CDTF">2025-11-24T16:12:09Z</dcterms:created>
  <dcterms:modified xsi:type="dcterms:W3CDTF">2025-12-22T07:34:22Z</dcterms:modified>
</cp:coreProperties>
</file>